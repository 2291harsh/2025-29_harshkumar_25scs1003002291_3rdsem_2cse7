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326563" cy="5578475"/>
  <p:notesSz cx="6858000" cy="9144000"/>
  <p:defaultTextStyle>
    <a:defPPr>
      <a:defRPr lang="en-US"/>
    </a:defPPr>
    <a:lvl1pPr marL="0" algn="l" defTabSz="94933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4665" algn="l" defTabSz="94933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49330" algn="l" defTabSz="94933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23995" algn="l" defTabSz="94933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98660" algn="l" defTabSz="94933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73325" algn="l" defTabSz="94933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47990" algn="l" defTabSz="94933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22655" algn="l" defTabSz="94933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797320" algn="l" defTabSz="94933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1181" y="-542"/>
      </p:cViewPr>
      <p:guideLst>
        <p:guide orient="horz" pos="1758"/>
        <p:guide pos="29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DB2A5-2392-4965-A850-98336F6C1850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61975" y="685800"/>
            <a:ext cx="57340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D7CA2-9242-4A45-8DA9-BC8722530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90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49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74665" algn="l" defTabSz="949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49330" algn="l" defTabSz="949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423995" algn="l" defTabSz="949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98660" algn="l" defTabSz="949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373325" algn="l" defTabSz="949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47990" algn="l" defTabSz="949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22655" algn="l" defTabSz="949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97320" algn="l" defTabSz="949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61975" y="685800"/>
            <a:ext cx="57340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4D7CA2-9242-4A45-8DA9-BC872253098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310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9492" y="1732945"/>
            <a:ext cx="7927579" cy="119575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8985" y="3161136"/>
            <a:ext cx="6528594" cy="142561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46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49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23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98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73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47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226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797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0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24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34" y="3584688"/>
            <a:ext cx="7927579" cy="1107947"/>
          </a:xfrm>
        </p:spPr>
        <p:txBody>
          <a:bodyPr anchor="t"/>
          <a:lstStyle>
            <a:lvl1pPr algn="l">
              <a:defRPr sz="42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734" y="2364399"/>
            <a:ext cx="7927579" cy="1220291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746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4933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2399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89866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37332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84799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32265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79732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22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9747" y="1735528"/>
            <a:ext cx="3069994" cy="4908285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75183" y="1735528"/>
            <a:ext cx="3069994" cy="4908285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41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28" y="223400"/>
            <a:ext cx="8393907" cy="929746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329" y="1248701"/>
            <a:ext cx="4120852" cy="520399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4665" indent="0">
              <a:buNone/>
              <a:defRPr sz="2100" b="1"/>
            </a:lvl2pPr>
            <a:lvl3pPr marL="949330" indent="0">
              <a:buNone/>
              <a:defRPr sz="1900" b="1"/>
            </a:lvl3pPr>
            <a:lvl4pPr marL="1423995" indent="0">
              <a:buNone/>
              <a:defRPr sz="1700" b="1"/>
            </a:lvl4pPr>
            <a:lvl5pPr marL="1898660" indent="0">
              <a:buNone/>
              <a:defRPr sz="1700" b="1"/>
            </a:lvl5pPr>
            <a:lvl6pPr marL="2373325" indent="0">
              <a:buNone/>
              <a:defRPr sz="1700" b="1"/>
            </a:lvl6pPr>
            <a:lvl7pPr marL="2847990" indent="0">
              <a:buNone/>
              <a:defRPr sz="1700" b="1"/>
            </a:lvl7pPr>
            <a:lvl8pPr marL="3322655" indent="0">
              <a:buNone/>
              <a:defRPr sz="1700" b="1"/>
            </a:lvl8pPr>
            <a:lvl9pPr marL="3797320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9" y="1769099"/>
            <a:ext cx="4120852" cy="3214080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7771" y="1248701"/>
            <a:ext cx="4122470" cy="520399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4665" indent="0">
              <a:buNone/>
              <a:defRPr sz="2100" b="1"/>
            </a:lvl2pPr>
            <a:lvl3pPr marL="949330" indent="0">
              <a:buNone/>
              <a:defRPr sz="1900" b="1"/>
            </a:lvl3pPr>
            <a:lvl4pPr marL="1423995" indent="0">
              <a:buNone/>
              <a:defRPr sz="1700" b="1"/>
            </a:lvl4pPr>
            <a:lvl5pPr marL="1898660" indent="0">
              <a:buNone/>
              <a:defRPr sz="1700" b="1"/>
            </a:lvl5pPr>
            <a:lvl6pPr marL="2373325" indent="0">
              <a:buNone/>
              <a:defRPr sz="1700" b="1"/>
            </a:lvl6pPr>
            <a:lvl7pPr marL="2847990" indent="0">
              <a:buNone/>
              <a:defRPr sz="1700" b="1"/>
            </a:lvl7pPr>
            <a:lvl8pPr marL="3322655" indent="0">
              <a:buNone/>
              <a:defRPr sz="1700" b="1"/>
            </a:lvl8pPr>
            <a:lvl9pPr marL="3797320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7771" y="1769099"/>
            <a:ext cx="4122470" cy="3214080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00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72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800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35" y="222107"/>
            <a:ext cx="3068375" cy="945241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6433" y="222107"/>
            <a:ext cx="5213809" cy="4761075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6335" y="1167350"/>
            <a:ext cx="3068375" cy="3815832"/>
          </a:xfrm>
        </p:spPr>
        <p:txBody>
          <a:bodyPr/>
          <a:lstStyle>
            <a:lvl1pPr marL="0" indent="0">
              <a:buNone/>
              <a:defRPr sz="1500"/>
            </a:lvl1pPr>
            <a:lvl2pPr marL="474665" indent="0">
              <a:buNone/>
              <a:defRPr sz="1200"/>
            </a:lvl2pPr>
            <a:lvl3pPr marL="949330" indent="0">
              <a:buNone/>
              <a:defRPr sz="1000"/>
            </a:lvl3pPr>
            <a:lvl4pPr marL="1423995" indent="0">
              <a:buNone/>
              <a:defRPr sz="900"/>
            </a:lvl4pPr>
            <a:lvl5pPr marL="1898660" indent="0">
              <a:buNone/>
              <a:defRPr sz="900"/>
            </a:lvl5pPr>
            <a:lvl6pPr marL="2373325" indent="0">
              <a:buNone/>
              <a:defRPr sz="900"/>
            </a:lvl6pPr>
            <a:lvl7pPr marL="2847990" indent="0">
              <a:buNone/>
              <a:defRPr sz="900"/>
            </a:lvl7pPr>
            <a:lvl8pPr marL="3322655" indent="0">
              <a:buNone/>
              <a:defRPr sz="900"/>
            </a:lvl8pPr>
            <a:lvl9pPr marL="379732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11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072" y="3904935"/>
            <a:ext cx="5595938" cy="460999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072" y="498448"/>
            <a:ext cx="5595938" cy="3347085"/>
          </a:xfrm>
        </p:spPr>
        <p:txBody>
          <a:bodyPr/>
          <a:lstStyle>
            <a:lvl1pPr marL="0" indent="0">
              <a:buNone/>
              <a:defRPr sz="3300"/>
            </a:lvl1pPr>
            <a:lvl2pPr marL="474665" indent="0">
              <a:buNone/>
              <a:defRPr sz="2900"/>
            </a:lvl2pPr>
            <a:lvl3pPr marL="949330" indent="0">
              <a:buNone/>
              <a:defRPr sz="2500"/>
            </a:lvl3pPr>
            <a:lvl4pPr marL="1423995" indent="0">
              <a:buNone/>
              <a:defRPr sz="2100"/>
            </a:lvl4pPr>
            <a:lvl5pPr marL="1898660" indent="0">
              <a:buNone/>
              <a:defRPr sz="2100"/>
            </a:lvl5pPr>
            <a:lvl6pPr marL="2373325" indent="0">
              <a:buNone/>
              <a:defRPr sz="2100"/>
            </a:lvl6pPr>
            <a:lvl7pPr marL="2847990" indent="0">
              <a:buNone/>
              <a:defRPr sz="2100"/>
            </a:lvl7pPr>
            <a:lvl8pPr marL="3322655" indent="0">
              <a:buNone/>
              <a:defRPr sz="2100"/>
            </a:lvl8pPr>
            <a:lvl9pPr marL="3797320" indent="0">
              <a:buNone/>
              <a:defRPr sz="21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072" y="4365933"/>
            <a:ext cx="5595938" cy="654696"/>
          </a:xfrm>
        </p:spPr>
        <p:txBody>
          <a:bodyPr/>
          <a:lstStyle>
            <a:lvl1pPr marL="0" indent="0">
              <a:buNone/>
              <a:defRPr sz="1500"/>
            </a:lvl1pPr>
            <a:lvl2pPr marL="474665" indent="0">
              <a:buNone/>
              <a:defRPr sz="1200"/>
            </a:lvl2pPr>
            <a:lvl3pPr marL="949330" indent="0">
              <a:buNone/>
              <a:defRPr sz="1000"/>
            </a:lvl3pPr>
            <a:lvl4pPr marL="1423995" indent="0">
              <a:buNone/>
              <a:defRPr sz="900"/>
            </a:lvl4pPr>
            <a:lvl5pPr marL="1898660" indent="0">
              <a:buNone/>
              <a:defRPr sz="900"/>
            </a:lvl5pPr>
            <a:lvl6pPr marL="2373325" indent="0">
              <a:buNone/>
              <a:defRPr sz="900"/>
            </a:lvl6pPr>
            <a:lvl7pPr marL="2847990" indent="0">
              <a:buNone/>
              <a:defRPr sz="900"/>
            </a:lvl7pPr>
            <a:lvl8pPr marL="3322655" indent="0">
              <a:buNone/>
              <a:defRPr sz="900"/>
            </a:lvl8pPr>
            <a:lvl9pPr marL="379732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32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482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71323" y="298295"/>
            <a:ext cx="1573859" cy="634551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9753" y="298295"/>
            <a:ext cx="4566131" cy="634551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30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6328" y="223400"/>
            <a:ext cx="8393907" cy="929746"/>
          </a:xfrm>
          <a:prstGeom prst="rect">
            <a:avLst/>
          </a:prstGeom>
        </p:spPr>
        <p:txBody>
          <a:bodyPr vert="horz" lIns="94933" tIns="47467" rIns="94933" bIns="47467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328" y="1301648"/>
            <a:ext cx="8393907" cy="3681536"/>
          </a:xfrm>
          <a:prstGeom prst="rect">
            <a:avLst/>
          </a:prstGeom>
        </p:spPr>
        <p:txBody>
          <a:bodyPr vert="horz" lIns="94933" tIns="47467" rIns="94933" bIns="47467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6328" y="5170421"/>
            <a:ext cx="2176198" cy="297002"/>
          </a:xfrm>
          <a:prstGeom prst="rect">
            <a:avLst/>
          </a:prstGeom>
        </p:spPr>
        <p:txBody>
          <a:bodyPr vert="horz" lIns="94933" tIns="47467" rIns="94933" bIns="4746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F8CA9-FDAC-4470-9D3A-6DE84511970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6576" y="5170421"/>
            <a:ext cx="2953412" cy="297002"/>
          </a:xfrm>
          <a:prstGeom prst="rect">
            <a:avLst/>
          </a:prstGeom>
        </p:spPr>
        <p:txBody>
          <a:bodyPr vert="horz" lIns="94933" tIns="47467" rIns="94933" bIns="4746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84037" y="5170421"/>
            <a:ext cx="2176198" cy="297002"/>
          </a:xfrm>
          <a:prstGeom prst="rect">
            <a:avLst/>
          </a:prstGeom>
        </p:spPr>
        <p:txBody>
          <a:bodyPr vert="horz" lIns="94933" tIns="47467" rIns="94933" bIns="4746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69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49330" rtl="0" eaLnBrk="1" latinLnBrk="0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5999" indent="-355999" algn="l" defTabSz="949330" rtl="0" eaLnBrk="1" latinLnBrk="0" hangingPunct="1">
        <a:spcBef>
          <a:spcPct val="20000"/>
        </a:spcBef>
        <a:buFont typeface="Arial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771331" indent="-296666" algn="l" defTabSz="949330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86663" indent="-237333" algn="l" defTabSz="949330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61328" indent="-237333" algn="l" defTabSz="94933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5993" indent="-237333" algn="l" defTabSz="949330" rtl="0" eaLnBrk="1" latinLnBrk="0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10658" indent="-237333" algn="l" defTabSz="949330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085323" indent="-237333" algn="l" defTabSz="949330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988" indent="-237333" algn="l" defTabSz="949330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34653" indent="-237333" algn="l" defTabSz="949330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493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4665" algn="l" defTabSz="9493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49330" algn="l" defTabSz="9493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23995" algn="l" defTabSz="9493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98660" algn="l" defTabSz="9493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73325" algn="l" defTabSz="9493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47990" algn="l" defTabSz="9493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22655" algn="l" defTabSz="9493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797320" algn="l" defTabSz="9493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/Relationships>
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26880" cy="5578754"/>
          </a:xfrm>
          <a:prstGeom prst="rect">
            <a:avLst/>
          </a:prstGeom>
          <a:solidFill>
            <a:srgbClr val="F6F6F6"/>
          </a:solidFill>
          <a:ln/>
        </p:spPr>
      </p:sp>
      <p:sp>
        <p:nvSpPr>
          <p:cNvPr id="3" name="Shape 1"/>
          <p:cNvSpPr/>
          <p:nvPr/>
        </p:nvSpPr>
        <p:spPr>
          <a:xfrm>
            <a:off x="4928616" y="0"/>
            <a:ext cx="4398264" cy="5578754"/>
          </a:xfrm>
          <a:prstGeom prst="rect">
            <a:avLst/>
          </a:prstGeom>
          <a:solidFill>
            <a:srgbClr val="102A56"/>
          </a:solidFill>
          <a:ln/>
        </p:spPr>
      </p:sp>
      <p:pic>
        <p:nvPicPr>
          <p:cNvPr id="4" name="Image 0" descr="titl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2743200" cy="5020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97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UNSTOP CAMPUS AMBASSADOR PROGRAM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347472" y="13716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</a:t>
            </a:r>
            <a:endParaRPr lang="en-US" sz="4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AMBASSADOR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2788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97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ONE-MONTH STUDENT OUTREACH &amp;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97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MANAGEMENT INTERNSHIP REPORT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97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DURATION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4434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 (4 WEEKS)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25780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CREDENTIALS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57800" y="731520"/>
            <a:ext cx="3703320" cy="1600200"/>
          </a:xfrm>
          <a:prstGeom prst="roundRect">
            <a:avLst>
              <a:gd name="adj" fmla="val 4571"/>
            </a:avLst>
          </a:prstGeom>
          <a:solidFill>
            <a:srgbClr val="1B3B6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0" y="8961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 KUMAR</a:t>
            </a:r>
            <a:endParaRPr lang="en-US" sz="2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0" y="1481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/ Roll No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25SCS1003002291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360920" y="14813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&amp; Semester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360920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(CSE)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257800" y="434340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3970C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68112" y="44531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UNSTOP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68112" y="47274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UNSTOP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7306" y="97704"/>
            <a:ext cx="4159647" cy="395319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b="1" i="0" u="none" dirty="0" smtClean="0">
                <a:solidFill>
                  <a:srgbClr val="0F172A"/>
                </a:solidFill>
                <a:latin typeface="Poppins"/>
              </a:rPr>
              <a:t>Candidate &amp; Program Overview</a:t>
            </a:r>
            <a:endParaRPr lang="en-US" b="1" i="0" u="none" dirty="0">
              <a:solidFill>
                <a:srgbClr val="0F172A"/>
              </a:solidFill>
              <a:latin typeface="Poppins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37306" y="423950"/>
            <a:ext cx="9289257" cy="69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60" y="1422937"/>
            <a:ext cx="4119232" cy="213436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64" y="1484251"/>
            <a:ext cx="272025" cy="22429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2496" y="1409547"/>
            <a:ext cx="2410917" cy="362375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sz="1700" b="1" dirty="0">
                <a:solidFill>
                  <a:srgbClr val="1E3A8A"/>
                </a:solidFill>
                <a:latin typeface="Poppins"/>
              </a:rPr>
              <a:t>Candidate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8443" y="1771924"/>
            <a:ext cx="3416739" cy="359630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050" b="1" dirty="0">
                <a:solidFill>
                  <a:srgbClr val="475569"/>
                </a:solidFill>
                <a:latin typeface="Inter"/>
              </a:rPr>
              <a:t>Student Name:</a:t>
            </a:r>
            <a:r>
              <a:rPr lang="en-US" sz="105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050" dirty="0" err="1" smtClean="0">
                <a:solidFill>
                  <a:srgbClr val="475569"/>
                </a:solidFill>
                <a:latin typeface="Inter"/>
              </a:rPr>
              <a:t>Harsh</a:t>
            </a:r>
            <a:r>
              <a:rPr lang="en-US" sz="1050" dirty="0" smtClean="0">
                <a:solidFill>
                  <a:srgbClr val="475569"/>
                </a:solidFill>
                <a:latin typeface="Inter"/>
              </a:rPr>
              <a:t> Kumar</a:t>
            </a:r>
            <a:endParaRPr lang="en-US" sz="1050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58443" y="2022747"/>
            <a:ext cx="3229796" cy="359630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050" b="1" dirty="0">
                <a:solidFill>
                  <a:srgbClr val="475569"/>
                </a:solidFill>
                <a:latin typeface="Inter"/>
              </a:rPr>
              <a:t>Roll Number:</a:t>
            </a:r>
            <a:r>
              <a:rPr lang="en-US" sz="105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050" dirty="0" smtClean="0">
                <a:solidFill>
                  <a:srgbClr val="475569"/>
                </a:solidFill>
                <a:latin typeface="Inter"/>
              </a:rPr>
              <a:t>25SCS1003002291</a:t>
            </a:r>
            <a:endParaRPr lang="en-US" sz="1050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48860" y="2273115"/>
            <a:ext cx="4128816" cy="359630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050" b="1" dirty="0">
                <a:solidFill>
                  <a:srgbClr val="475569"/>
                </a:solidFill>
                <a:latin typeface="Inter"/>
              </a:rPr>
              <a:t>Degree:</a:t>
            </a:r>
            <a:r>
              <a:rPr lang="en-US" sz="105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Inter"/>
              </a:rPr>
              <a:t>B.Tech</a:t>
            </a:r>
            <a:r>
              <a:rPr lang="en-US" sz="1050" dirty="0">
                <a:solidFill>
                  <a:srgbClr val="475569"/>
                </a:solidFill>
                <a:latin typeface="Inter"/>
              </a:rPr>
              <a:t> (Computer Science &amp; Engineering</a:t>
            </a:r>
            <a:r>
              <a:rPr lang="en-US" sz="1050" dirty="0">
                <a:solidFill>
                  <a:srgbClr val="475569"/>
                </a:solidFill>
                <a:latin typeface="Inter"/>
              </a:rPr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8443" y="2534999"/>
            <a:ext cx="2211504" cy="352342"/>
          </a:xfrm>
          <a:prstGeom prst="rect">
            <a:avLst/>
          </a:prstGeom>
        </p:spPr>
        <p:txBody>
          <a:bodyPr wrap="none"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050" b="1" dirty="0">
                <a:solidFill>
                  <a:srgbClr val="475569"/>
                </a:solidFill>
                <a:latin typeface="Inter"/>
              </a:rPr>
              <a:t>Academic Batch:</a:t>
            </a:r>
            <a:r>
              <a:rPr lang="en-US" sz="105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050" dirty="0" smtClean="0">
                <a:solidFill>
                  <a:srgbClr val="475569"/>
                </a:solidFill>
                <a:latin typeface="Inter"/>
              </a:rPr>
              <a:t>2025-2029</a:t>
            </a:r>
            <a:endParaRPr lang="en-US" sz="1050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48860" y="2789237"/>
            <a:ext cx="3808347" cy="359630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050" b="1" dirty="0">
                <a:solidFill>
                  <a:srgbClr val="475569"/>
                </a:solidFill>
                <a:latin typeface="Inter"/>
              </a:rPr>
              <a:t>University:</a:t>
            </a:r>
            <a:r>
              <a:rPr lang="en-US" sz="1050" dirty="0">
                <a:solidFill>
                  <a:srgbClr val="475569"/>
                </a:solidFill>
                <a:latin typeface="Inter"/>
              </a:rPr>
              <a:t> IILM University, Greater Noida, U.P.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364" y="1363285"/>
            <a:ext cx="4592995" cy="2133652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357" y="1442669"/>
            <a:ext cx="213734" cy="22429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827751" y="1392102"/>
            <a:ext cx="1987083" cy="357471"/>
          </a:xfrm>
          <a:prstGeom prst="rect">
            <a:avLst/>
          </a:prstGeom>
        </p:spPr>
        <p:txBody>
          <a:bodyPr wrap="none" lIns="94933" tIns="47467" rIns="94933" bIns="47467">
            <a:spAutoFit/>
          </a:bodyPr>
          <a:lstStyle/>
          <a:p>
            <a:r>
              <a:rPr lang="en-US" sz="1700" b="1" dirty="0">
                <a:solidFill>
                  <a:srgbClr val="1E3A8A"/>
                </a:solidFill>
                <a:latin typeface="Poppins"/>
              </a:rPr>
              <a:t>Internship Profile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5480" y="1708547"/>
            <a:ext cx="4663282" cy="359630"/>
          </a:xfrm>
          <a:prstGeom prst="rect">
            <a:avLst/>
          </a:prstGeom>
        </p:spPr>
        <p:txBody>
          <a:bodyPr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050" b="1" dirty="0">
                <a:solidFill>
                  <a:srgbClr val="475569"/>
                </a:solidFill>
                <a:latin typeface="Inter"/>
              </a:rPr>
              <a:t>Program Name:</a:t>
            </a:r>
            <a:r>
              <a:rPr lang="en-US" sz="105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050" dirty="0" err="1" smtClean="0">
                <a:solidFill>
                  <a:srgbClr val="475569"/>
                </a:solidFill>
                <a:latin typeface="Inter"/>
              </a:rPr>
              <a:t>Unstop Campus Ambassador</a:t>
            </a:r>
            <a:r>
              <a:rPr lang="en-US" sz="1050" dirty="0" smtClean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050" dirty="0">
                <a:solidFill>
                  <a:srgbClr val="475569"/>
                </a:solidFill>
                <a:latin typeface="Inter"/>
              </a:rPr>
              <a:t>Program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5480" y="1937911"/>
            <a:ext cx="3874271" cy="359630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050" b="1" dirty="0">
                <a:solidFill>
                  <a:srgbClr val="475569"/>
                </a:solidFill>
                <a:latin typeface="Inter"/>
              </a:rPr>
              <a:t>Internship Domain:</a:t>
            </a:r>
            <a:r>
              <a:rPr lang="en-US" sz="105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050" dirty="0" smtClean="0">
                <a:solidFill>
                  <a:srgbClr val="475569"/>
                </a:solidFill>
                <a:latin typeface="Inter"/>
              </a:rPr>
              <a:t>Campus Ambassador</a:t>
            </a:r>
            <a:r>
              <a:rPr lang="en-US" sz="1050" dirty="0" smtClean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050" dirty="0">
                <a:solidFill>
                  <a:srgbClr val="475569"/>
                </a:solidFill>
                <a:latin typeface="Inter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4485480" y="2199606"/>
            <a:ext cx="4663282" cy="352342"/>
          </a:xfrm>
          <a:prstGeom prst="rect">
            <a:avLst/>
          </a:prstGeom>
        </p:spPr>
        <p:txBody>
          <a:bodyPr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050" b="1" dirty="0">
                <a:solidFill>
                  <a:srgbClr val="475569"/>
                </a:solidFill>
                <a:latin typeface="Inter"/>
              </a:rPr>
              <a:t>Duration:</a:t>
            </a:r>
            <a:r>
              <a:rPr lang="en-US" sz="105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050" dirty="0" smtClean="0">
                <a:solidFill>
                  <a:srgbClr val="475569"/>
                </a:solidFill>
                <a:latin typeface="Inter"/>
              </a:rPr>
              <a:t>4 WEEKS (01</a:t>
            </a:r>
            <a:r>
              <a:rPr lang="en-US" sz="1050" baseline="30000" dirty="0" smtClean="0">
                <a:solidFill>
                  <a:srgbClr val="475569"/>
                </a:solidFill>
                <a:latin typeface="Inter"/>
              </a:rPr>
              <a:t>st</a:t>
            </a:r>
            <a:r>
              <a:rPr lang="en-US" sz="1050" dirty="0" smtClean="0">
                <a:solidFill>
                  <a:srgbClr val="475569"/>
                </a:solidFill>
                <a:latin typeface="Inter"/>
              </a:rPr>
              <a:t> JUL </a:t>
            </a:r>
            <a:r>
              <a:rPr lang="en-US" sz="1050" dirty="0">
                <a:solidFill>
                  <a:srgbClr val="475569"/>
                </a:solidFill>
                <a:latin typeface="Inter"/>
              </a:rPr>
              <a:t>2026 </a:t>
            </a:r>
            <a:r>
              <a:rPr lang="en-US" sz="1050" dirty="0" smtClean="0">
                <a:solidFill>
                  <a:srgbClr val="475569"/>
                </a:solidFill>
                <a:latin typeface="Inter"/>
              </a:rPr>
              <a:t>– 31</a:t>
            </a:r>
            <a:r>
              <a:rPr lang="en-US" sz="1050" baseline="30000" dirty="0" smtClean="0">
                <a:solidFill>
                  <a:srgbClr val="475569"/>
                </a:solidFill>
                <a:latin typeface="Inter"/>
              </a:rPr>
              <a:t>st</a:t>
            </a:r>
            <a:r>
              <a:rPr lang="en-US" sz="1050" dirty="0" smtClean="0">
                <a:solidFill>
                  <a:srgbClr val="475569"/>
                </a:solidFill>
                <a:latin typeface="Inter"/>
              </a:rPr>
              <a:t> JUL </a:t>
            </a:r>
            <a:r>
              <a:rPr lang="en-US" sz="1050" dirty="0">
                <a:solidFill>
                  <a:srgbClr val="475569"/>
                </a:solidFill>
                <a:latin typeface="Inter"/>
              </a:rPr>
              <a:t>2026)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77473" y="2452308"/>
            <a:ext cx="2471640" cy="352342"/>
          </a:xfrm>
          <a:prstGeom prst="rect">
            <a:avLst/>
          </a:prstGeom>
        </p:spPr>
        <p:txBody>
          <a:bodyPr wrap="none"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100" b="1" dirty="0">
                <a:solidFill>
                  <a:srgbClr val="475569"/>
                </a:solidFill>
                <a:latin typeface="Inter"/>
              </a:rPr>
              <a:t>SECTION</a:t>
            </a:r>
            <a:r>
              <a:rPr lang="en-US" sz="1050" b="1" dirty="0">
                <a:solidFill>
                  <a:srgbClr val="475569"/>
                </a:solidFill>
                <a:latin typeface="Inter"/>
              </a:rPr>
              <a:t>:</a:t>
            </a:r>
            <a:r>
              <a:rPr lang="en-US" sz="105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050" dirty="0" smtClean="0">
                <a:solidFill>
                  <a:srgbClr val="475569"/>
                </a:solidFill>
                <a:latin typeface="Inter"/>
              </a:rPr>
              <a:t>2CSE7 (3rd Sem)</a:t>
            </a:r>
            <a:endParaRPr lang="en-US" sz="1050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77473" y="2729186"/>
            <a:ext cx="2234523" cy="352342"/>
          </a:xfrm>
          <a:prstGeom prst="rect">
            <a:avLst/>
          </a:prstGeom>
        </p:spPr>
        <p:txBody>
          <a:bodyPr wrap="none"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050" b="1" dirty="0">
                <a:solidFill>
                  <a:srgbClr val="475569"/>
                </a:solidFill>
                <a:latin typeface="Inter"/>
              </a:rPr>
              <a:t>Issue Date:</a:t>
            </a:r>
            <a:r>
              <a:rPr lang="en-US" sz="105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050" dirty="0" smtClean="0">
                <a:solidFill>
                  <a:srgbClr val="475569"/>
                </a:solidFill>
                <a:latin typeface="Inter"/>
              </a:rPr>
              <a:t>12</a:t>
            </a:r>
            <a:r>
              <a:rPr lang="en-US" sz="1050" baseline="30000" dirty="0" smtClean="0">
                <a:solidFill>
                  <a:srgbClr val="475569"/>
                </a:solidFill>
                <a:latin typeface="Inter"/>
              </a:rPr>
              <a:t>th</a:t>
            </a:r>
            <a:r>
              <a:rPr lang="en-US" sz="1050" dirty="0" smtClean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050" dirty="0">
                <a:solidFill>
                  <a:srgbClr val="475569"/>
                </a:solidFill>
                <a:latin typeface="Inter"/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54232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7831"/>
            <a:ext cx="3886068" cy="395319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635" y="27830"/>
            <a:ext cx="5820467" cy="560035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sz="2900" b="1" dirty="0"/>
              <a:t>Organization Profile: </a:t>
            </a:r>
            <a:r>
              <a:rPr lang="en-US" sz="2900" b="1" dirty="0" err="1"/>
              <a:t>Unstop</a:t>
            </a:r>
            <a:endParaRPr lang="en-US" sz="2900" b="1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7721" y="587865"/>
            <a:ext cx="9248842" cy="80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rol 4"/>
          <p:cNvSpPr>
            <a:spLocks noChangeArrowheads="1" noChangeShapeType="1"/>
          </p:cNvSpPr>
          <p:nvPr/>
        </p:nvSpPr>
        <p:spPr bwMode="auto">
          <a:xfrm>
            <a:off x="0" y="0"/>
            <a:ext cx="932656" cy="978739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933" tIns="47467" rIns="94933" bIns="47467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3177" y="678474"/>
            <a:ext cx="9283386" cy="988298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b="1" dirty="0" smtClean="0"/>
              <a:t>Unstop (Formerly Dare2Compete) </a:t>
            </a:r>
            <a:r>
              <a:rPr lang="en-US" dirty="0" smtClean="0"/>
              <a:t>is </a:t>
            </a:r>
            <a:r>
              <a:rPr lang="en-US" dirty="0" smtClean="0"/>
              <a:t>a platform operated by Flive Consulting Private Limited that bridges the gap between students and opportunities by hosting competitions, hackathons, scholarships, and other career-building events</a:t>
            </a:r>
            <a:endParaRPr lang="en-US" dirty="0"/>
          </a:p>
        </p:txBody>
      </p:sp>
      <p:sp>
        <p:nvSpPr>
          <p:cNvPr id="14" name="Control 6"/>
          <p:cNvSpPr>
            <a:spLocks noChangeArrowheads="1" noChangeShapeType="1"/>
          </p:cNvSpPr>
          <p:nvPr/>
        </p:nvSpPr>
        <p:spPr bwMode="auto">
          <a:xfrm>
            <a:off x="155443" y="163123"/>
            <a:ext cx="932656" cy="978739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933" tIns="47467" rIns="94933" bIns="47467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7272" y="1666771"/>
            <a:ext cx="9153849" cy="988298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b="1" dirty="0" smtClean="0"/>
              <a:t>Campus Ambassador Program</a:t>
            </a:r>
          </a:p>
          <a:p>
            <a:r>
              <a:rPr lang="en-US" dirty="0" smtClean="0"/>
              <a:t>Enables students across colleges to represent Unstop on their campuses, helping peers discover competitions, hackathons, and scholarships relevant to their goals.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0" y="2654855"/>
            <a:ext cx="9093399" cy="988298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b="1" dirty="0" smtClean="0"/>
              <a:t>Practical Outreach &amp; Events</a:t>
            </a:r>
          </a:p>
          <a:p>
            <a:r>
              <a:rPr lang="en-US" dirty="0" smtClean="0"/>
              <a:t>Focuses on organizing awareness sessions, campus events, and peer engagement to maximize student participation on the platform.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0" y="3658036"/>
            <a:ext cx="8618435" cy="1557800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b="1" dirty="0" smtClean="0"/>
              <a:t>Mission</a:t>
            </a:r>
          </a:p>
          <a:p>
            <a:r>
              <a:rPr lang="en-US" dirty="0" smtClean="0"/>
              <a:t>To bridge the gap between talent and opportunity by connecting students with competitions, scholarships, and career-building experiences relevant to their goals.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478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635" y="0"/>
            <a:ext cx="9240206" cy="395319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b="1" i="0" u="none" dirty="0" smtClean="0">
                <a:solidFill>
                  <a:srgbClr val="0F172A"/>
                </a:solidFill>
                <a:latin typeface="Poppins"/>
              </a:rPr>
              <a:t>Role, Responsibilities &amp; Scope</a:t>
            </a:r>
            <a:endParaRPr lang="en-US" b="1" i="0" u="none" dirty="0">
              <a:solidFill>
                <a:srgbClr val="0F172A"/>
              </a:solidFill>
              <a:latin typeface="Poppin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505512"/>
            <a:ext cx="93265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3" y="1321126"/>
            <a:ext cx="4274675" cy="2330058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737" y="1343102"/>
            <a:ext cx="4309219" cy="2348888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64" y="1402690"/>
            <a:ext cx="213734" cy="22429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44049" y="1355395"/>
            <a:ext cx="2891177" cy="388249"/>
          </a:xfrm>
          <a:prstGeom prst="rect">
            <a:avLst/>
          </a:prstGeom>
        </p:spPr>
        <p:txBody>
          <a:bodyPr wrap="none" lIns="94933" tIns="47467" rIns="94933" bIns="47467">
            <a:spAutoFit/>
          </a:bodyPr>
          <a:lstStyle/>
          <a:p>
            <a:r>
              <a:rPr lang="en-US" b="1" i="0" u="none" dirty="0" smtClean="0">
                <a:solidFill>
                  <a:srgbClr val="1E3A8A"/>
                </a:solidFill>
                <a:latin typeface="Poppins"/>
              </a:rPr>
              <a:t>The Campus Challenge</a:t>
            </a:r>
            <a:endParaRPr lang="en-US" b="1" i="0" u="none" dirty="0">
              <a:solidFill>
                <a:srgbClr val="1E3A8A"/>
              </a:solidFill>
              <a:latin typeface="Poppins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003" y="1440907"/>
            <a:ext cx="213734" cy="22429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989280" y="1355395"/>
            <a:ext cx="2467984" cy="388249"/>
          </a:xfrm>
          <a:prstGeom prst="rect">
            <a:avLst/>
          </a:prstGeom>
        </p:spPr>
        <p:txBody>
          <a:bodyPr wrap="none" lIns="94933" tIns="47467" rIns="94933" bIns="47467">
            <a:spAutoFit/>
          </a:bodyPr>
          <a:lstStyle/>
          <a:p>
            <a:r>
              <a:rPr lang="en-US" b="1" i="0" u="none" dirty="0" smtClean="0">
                <a:solidFill>
                  <a:srgbClr val="1E3A8A"/>
                </a:solidFill>
                <a:latin typeface="Poppins"/>
              </a:rPr>
              <a:t>The Ambassador Role</a:t>
            </a:r>
            <a:endParaRPr lang="en-US" b="1" i="0" u="none" dirty="0">
              <a:solidFill>
                <a:srgbClr val="1E3A8A"/>
              </a:solidFill>
              <a:latin typeface="Poppi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33164" y="1810498"/>
            <a:ext cx="4119232" cy="395319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endParaRPr lang="en-US" dirty="0" smtClean="0"/>
          </a:p>
        </p:txBody>
      </p:sp>
      <p:sp>
        <p:nvSpPr>
          <p:cNvPr id="18" name="Rectangle 17"/>
          <p:cNvSpPr/>
          <p:nvPr/>
        </p:nvSpPr>
        <p:spPr>
          <a:xfrm>
            <a:off x="184589" y="1750714"/>
            <a:ext cx="4090086" cy="881231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pPr>
              <a:lnSpc>
                <a:spcPts val="1993"/>
              </a:lnSpc>
            </a:pPr>
            <a:r>
              <a:rPr lang="en-US" sz="1000" dirty="0">
                <a:solidFill>
                  <a:srgbClr val="475569"/>
                </a:solidFill>
                <a:latin typeface="Inter"/>
              </a:rPr>
              <a:t>Students often remain unaware of the competitions, scholarships, and career opportunities genuinely relevant to their goals and growth</a:t>
            </a:r>
            <a:r>
              <a:rPr lang="en-US" b="0" i="0" u="none" dirty="0" smtClean="0">
                <a:solidFill>
                  <a:srgbClr val="475569"/>
                </a:solidFill>
                <a:latin typeface="Inter"/>
              </a:rPr>
              <a:t>.</a:t>
            </a:r>
            <a:endParaRPr lang="en-US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84588" y="2631945"/>
            <a:ext cx="4663282" cy="798874"/>
          </a:xfrm>
          <a:prstGeom prst="rect">
            <a:avLst/>
          </a:prstGeom>
        </p:spPr>
        <p:txBody>
          <a:bodyPr lIns="94933" tIns="47467" rIns="94933" bIns="47467">
            <a:spAutoFit/>
          </a:bodyPr>
          <a:lstStyle/>
          <a:p>
            <a:pPr>
              <a:lnSpc>
                <a:spcPts val="1751"/>
              </a:lnSpc>
            </a:pPr>
            <a:r>
              <a:rPr lang="en-US" sz="1000" dirty="0">
                <a:solidFill>
                  <a:srgbClr val="64748B"/>
                </a:solidFill>
                <a:latin typeface="Inter"/>
              </a:rPr>
              <a:t>Even highly relevant opportunities create little impact until</a:t>
            </a:r>
            <a:r>
              <a:rPr lang="en-US" sz="1000" dirty="0" err="1">
                <a:solidFill>
                  <a:srgbClr val="64748B"/>
                </a:solidFill>
                <a:latin typeface="Inter"/>
              </a:rPr>
              <a:t> students</a:t>
            </a:r>
            <a:r>
              <a:rPr lang="en-US" sz="1000" dirty="0">
                <a:solidFill>
                  <a:srgbClr val="64748B"/>
                </a:solidFill>
                <a:latin typeface="Inter"/>
              </a:rPr>
              <a:t> actually discover them through a trusted, on-campus channel</a:t>
            </a:r>
          </a:p>
          <a:p>
            <a:pPr>
              <a:lnSpc>
                <a:spcPts val="1751"/>
              </a:lnSpc>
            </a:pPr>
            <a:r>
              <a:rPr lang="en-US" sz="1000" dirty="0">
                <a:solidFill>
                  <a:srgbClr val="64748B"/>
                </a:solidFill>
                <a:latin typeface="Inter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663281" y="1665202"/>
            <a:ext cx="4663282" cy="865302"/>
          </a:xfrm>
          <a:prstGeom prst="rect">
            <a:avLst/>
          </a:prstGeom>
        </p:spPr>
        <p:txBody>
          <a:bodyPr lIns="94933" tIns="47467" rIns="94933" bIns="47467">
            <a:spAutoFit/>
          </a:bodyPr>
          <a:lstStyle/>
          <a:p>
            <a:pPr>
              <a:lnSpc>
                <a:spcPts val="1993"/>
              </a:lnSpc>
            </a:pPr>
            <a:r>
              <a:rPr lang="en-US" sz="1000" dirty="0">
                <a:solidFill>
                  <a:srgbClr val="475569"/>
                </a:solidFill>
                <a:latin typeface="Inter"/>
              </a:rPr>
              <a:t>This internship covers the complete outreach cycle: identifying opportunities, planning campus events, and driving student sign-ups and engagement</a:t>
            </a:r>
            <a:r>
              <a:rPr lang="en-US" sz="1000" dirty="0" err="1">
                <a:solidFill>
                  <a:srgbClr val="475569"/>
                </a:solidFill>
                <a:latin typeface="Inter"/>
              </a:rPr>
              <a:t/>
            </a:r>
            <a:r>
              <a:rPr lang="en-US" sz="1000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281" y="2631945"/>
            <a:ext cx="4663282" cy="798874"/>
          </a:xfrm>
          <a:prstGeom prst="rect">
            <a:avLst/>
          </a:prstGeom>
        </p:spPr>
        <p:txBody>
          <a:bodyPr lIns="94933" tIns="47467" rIns="94933" bIns="47467">
            <a:spAutoFit/>
          </a:bodyPr>
          <a:lstStyle/>
          <a:p>
            <a:pPr>
              <a:lnSpc>
                <a:spcPts val="1751"/>
              </a:lnSpc>
            </a:pPr>
            <a:r>
              <a:rPr lang="en-US" sz="1000" dirty="0">
                <a:solidFill>
                  <a:srgbClr val="64748B"/>
                </a:solidFill>
                <a:latin typeface="Inter"/>
              </a:rPr>
              <a:t>Building practical skills in event planning, communication, and outreach using tools like (</a:t>
            </a:r>
            <a:r>
              <a:rPr lang="en-US" sz="1000" dirty="0" err="1">
                <a:solidFill>
                  <a:srgbClr val="64748B"/>
                </a:solidFill>
                <a:latin typeface="Inter"/>
              </a:rPr>
              <a:t>WhatsApp</a:t>
            </a:r>
            <a:r>
              <a:rPr lang="en-US" sz="1000" dirty="0">
                <a:solidFill>
                  <a:srgbClr val="64748B"/>
                </a:solidFill>
                <a:latin typeface="Inter"/>
              </a:rPr>
              <a:t>, </a:t>
            </a:r>
            <a:r>
              <a:rPr lang="en-US" sz="1000" dirty="0" err="1">
                <a:solidFill>
                  <a:srgbClr val="64748B"/>
                </a:solidFill>
                <a:latin typeface="Inter"/>
              </a:rPr>
              <a:t>Google Forms</a:t>
            </a:r>
            <a:r>
              <a:rPr lang="en-US" sz="1000" dirty="0">
                <a:solidFill>
                  <a:srgbClr val="64748B"/>
                </a:solidFill>
                <a:latin typeface="Inter"/>
              </a:rPr>
              <a:t>, </a:t>
            </a:r>
            <a:r>
              <a:rPr lang="en-US" sz="1000" dirty="0" err="1">
                <a:solidFill>
                  <a:srgbClr val="64748B"/>
                </a:solidFill>
                <a:latin typeface="Inter"/>
              </a:rPr>
              <a:t>Instagram</a:t>
            </a:r>
            <a:r>
              <a:rPr lang="en-US" sz="1000" dirty="0">
                <a:solidFill>
                  <a:srgbClr val="64748B"/>
                </a:solidFill>
                <a:latin typeface="Inter"/>
              </a:rPr>
              <a:t>, </a:t>
            </a:r>
            <a:r>
              <a:rPr lang="en-US" sz="1000" dirty="0" err="1">
                <a:solidFill>
                  <a:srgbClr val="64748B"/>
                </a:solidFill>
                <a:latin typeface="Inter"/>
              </a:rPr>
              <a:t>LinkedIn</a:t>
            </a:r>
            <a:r>
              <a:rPr lang="en-US" sz="1000" dirty="0">
                <a:solidFill>
                  <a:srgbClr val="64748B"/>
                </a:solidFill>
                <a:latin typeface="Inter"/>
              </a:rPr>
              <a:t>, </a:t>
            </a:r>
            <a:r>
              <a:rPr lang="en-US" sz="1000" dirty="0" err="1">
                <a:solidFill>
                  <a:srgbClr val="64748B"/>
                </a:solidFill>
                <a:latin typeface="Inter"/>
              </a:rPr>
              <a:t>Sheets</a:t>
            </a:r>
            <a:r>
              <a:rPr lang="en-US" sz="1000" dirty="0">
                <a:solidFill>
                  <a:srgbClr val="64748B"/>
                </a:solidFill>
                <a:latin typeface="Inter"/>
              </a:rPr>
              <a:t>) to drive real campus-level impact.</a:t>
            </a:r>
          </a:p>
        </p:txBody>
      </p:sp>
    </p:spTree>
    <p:extLst>
      <p:ext uri="{BB962C8B-B14F-4D97-AF65-F5344CB8AC3E}">
        <p14:creationId xmlns:p14="http://schemas.microsoft.com/office/powerpoint/2010/main" val="41513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051888" cy="395319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b="1" i="0" u="none" dirty="0" smtClean="0">
                <a:solidFill>
                  <a:srgbClr val="0F172A"/>
                </a:solidFill>
                <a:latin typeface="Poppins"/>
              </a:rPr>
              <a:t>Work Methodology (July 2026)</a:t>
            </a:r>
            <a:endParaRPr lang="en-US" b="1" i="0" u="none" dirty="0">
              <a:solidFill>
                <a:srgbClr val="0F172A"/>
              </a:solidFill>
              <a:latin typeface="Poppins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0" y="505512"/>
            <a:ext cx="9326563" cy="815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91281" y="808037"/>
            <a:ext cx="89916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1. Requirement Analysis &amp; Planning</a:t>
            </a:r>
          </a:p>
          <a:p>
            <a:r>
              <a:rPr lang="en-US" sz="1400" b="1" dirty="0"/>
              <a:t>To identify upcoming opportunities on Unstop relevant to students at IILM University and prepare event schedules in coordination with faculty.</a:t>
            </a:r>
          </a:p>
          <a:p>
            <a:r>
              <a:rPr lang="en-US" sz="1400" b="1" dirty="0"/>
              <a:t>A clear plan of relevant competitions, scholarships, and awareness sessions ready for campus-wide rollout.</a:t>
            </a:r>
          </a:p>
          <a:p>
            <a:endParaRPr lang="en-US" sz="1400" b="1" dirty="0"/>
          </a:p>
          <a:p>
            <a:r>
              <a:rPr lang="en-US" sz="1400" b="1" dirty="0"/>
              <a:t>2. Promotion &amp; Outreach</a:t>
            </a:r>
          </a:p>
          <a:p>
            <a:r>
              <a:rPr lang="en-US" sz="1400" b="1" dirty="0"/>
              <a:t>To create awareness of Unstop opportunities through campus announcements, social media, and peer networks</a:t>
            </a:r>
            <a:r>
              <a:rPr lang="en-US" sz="1400" b="1" dirty="0" smtClean="0"/>
              <a:t>.</a:t>
            </a:r>
            <a:endParaRPr lang="en-US" sz="1400" b="1" dirty="0"/>
          </a:p>
          <a:p>
            <a:r>
              <a:rPr lang="en-US" sz="1400" b="1" dirty="0"/>
              <a:t>Increased visibility of the platform and its opportunities among the student community</a:t>
            </a:r>
            <a:r>
              <a:rPr lang="en-US" sz="1400" b="1" dirty="0" smtClean="0"/>
              <a:t>.</a:t>
            </a:r>
          </a:p>
          <a:p>
            <a:r>
              <a:rPr lang="en-US" sz="1400" b="1" dirty="0" smtClean="0"/>
              <a:t>           </a:t>
            </a:r>
            <a:endParaRPr lang="en-US" sz="1400" b="1" dirty="0"/>
          </a:p>
          <a:p>
            <a:r>
              <a:rPr lang="en-US" sz="1400" b="1" dirty="0"/>
              <a:t>3. Event Coordination</a:t>
            </a:r>
          </a:p>
          <a:p>
            <a:r>
              <a:rPr lang="en-US" sz="1400" b="1" dirty="0"/>
              <a:t>To work with fellow students and faculty to plan and execute on-campus events and awareness sessions.</a:t>
            </a:r>
          </a:p>
          <a:p>
            <a:r>
              <a:rPr lang="en-US" sz="1400" b="1" dirty="0"/>
              <a:t>Well-attended events that connected students directly with relevant opportunities on Unstop.</a:t>
            </a:r>
          </a:p>
          <a:p>
            <a:endParaRPr lang="en-US" sz="1400" b="1" dirty="0"/>
          </a:p>
          <a:p>
            <a:r>
              <a:rPr lang="en-US" sz="1400" b="1" dirty="0"/>
              <a:t>4. Follow-up &amp; Reporting</a:t>
            </a:r>
            <a:r>
              <a:rPr lang="en-US" sz="1400" b="1" dirty="0" err="1"/>
              <a:t/>
            </a:r>
            <a:r>
              <a:rPr lang="en-US" sz="1400" b="1" dirty="0"/>
              <a:t/>
            </a:r>
          </a:p>
          <a:p>
            <a:r>
              <a:rPr lang="en-US" sz="1400" b="1" dirty="0"/>
              <a:t>To encourage sign-ups and participation, address student queries, and share updates and outcomes with the Unstop team</a:t>
            </a:r>
            <a:r>
              <a:rPr lang="en-US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4111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625030"/>
              </p:ext>
            </p:extLst>
          </p:nvPr>
        </p:nvGraphicFramePr>
        <p:xfrm>
          <a:off x="17271" y="1745079"/>
          <a:ext cx="9326563" cy="3833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412"/>
                <a:gridCol w="6508151"/>
              </a:tblGrid>
              <a:tr h="502851"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FFFFFF"/>
                          </a:solidFill>
                          <a:latin typeface="Inter SemiBold"/>
                        </a:rPr>
                        <a:t>Verification Metric</a:t>
                      </a: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FFFFFF"/>
                          </a:solidFill>
                          <a:latin typeface="Inter SemiBold"/>
                        </a:rPr>
                        <a:t>Official Record / Credential Details</a:t>
                      </a: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07798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Internship Title</a:t>
                      </a: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none" baseline="0" dirty="0" smtClean="0">
                          <a:solidFill>
                            <a:srgbClr val="334155"/>
                          </a:solidFill>
                          <a:latin typeface="Inter"/>
                        </a:rPr>
                        <a:t>Unstop Campus Ambassador </a:t>
                      </a:r>
                      <a:r>
                        <a:rPr lang="en-US" sz="1200" b="0" i="0" u="none" baseline="0" dirty="0" smtClean="0">
                          <a:solidFill>
                            <a:srgbClr val="334155"/>
                          </a:solidFill>
                          <a:latin typeface="Inter"/>
                        </a:rPr>
                        <a:t>Program (2025–26)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7798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Issuing Organization</a:t>
                      </a: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none" dirty="0" smtClean="0">
                          <a:solidFill>
                            <a:srgbClr val="334155"/>
                          </a:solidFill>
                          <a:latin typeface="Inter"/>
                        </a:rPr>
                        <a:t>Unstop (Formerly Dare2Compete)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07798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Academic Patronage</a:t>
                      </a: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none" baseline="0" dirty="0" err="1" smtClean="0">
                          <a:solidFill>
                            <a:srgbClr val="334155"/>
                          </a:solidFill>
                          <a:latin typeface="Inter"/>
                        </a:rPr>
                        <a:t>IILM University, Greater Noida</a:t>
                      </a:r>
                      <a:r>
                        <a:rPr lang="en-US" sz="1200" b="0" i="0" u="none" baseline="0" dirty="0" smtClean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lang="en-US" sz="1200" b="0" i="0" u="none" baseline="0" dirty="0" smtClean="0">
                          <a:solidFill>
                            <a:srgbClr val="334155"/>
                          </a:solidFill>
                          <a:latin typeface="Inter"/>
                        </a:rPr>
                        <a:t/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507152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Letter Date</a:t>
                      </a: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49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baseline="0" dirty="0" smtClean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lang="en-US" sz="1200" dirty="0" smtClean="0">
                          <a:solidFill>
                            <a:srgbClr val="475569"/>
                          </a:solidFill>
                          <a:latin typeface="Inter"/>
                        </a:rPr>
                        <a:t>12th August 2026</a:t>
                      </a:r>
                    </a:p>
                    <a:p>
                      <a:pPr algn="l"/>
                      <a:endParaRPr sz="12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97704"/>
            <a:ext cx="7072644" cy="560035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sz="2900" b="1" dirty="0">
                <a:solidFill>
                  <a:srgbClr val="0F172A"/>
                </a:solidFill>
                <a:latin typeface="Poppins"/>
              </a:rPr>
              <a:t>Certification &amp; Official Verification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0" y="587074"/>
            <a:ext cx="9326563" cy="70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954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21771" y="0"/>
            <a:ext cx="8393907" cy="929746"/>
          </a:xfrm>
        </p:spPr>
        <p:txBody>
          <a:bodyPr>
            <a:normAutofit/>
          </a:bodyPr>
          <a:lstStyle/>
          <a:p>
            <a:r>
              <a:rPr lang="en-IN" sz="3300" b="1" dirty="0">
                <a:solidFill>
                  <a:srgbClr val="0F172A"/>
                </a:solidFill>
                <a:latin typeface="Poppins"/>
              </a:rPr>
              <a:t>Certification &amp; Official Verification</a:t>
            </a:r>
            <a:endParaRPr lang="en-US" sz="3300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831758"/>
            <a:ext cx="9326563" cy="815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831" y="1036637"/>
            <a:ext cx="3178900" cy="442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048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0" y="3424237"/>
            <a:ext cx="7086600" cy="1771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50008" y="1570037"/>
            <a:ext cx="3970496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100" b="1" i="0" u="none" dirty="0">
                <a:solidFill>
                  <a:srgbClr val="0F172A"/>
                </a:solidFill>
                <a:latin typeface="Poppins"/>
              </a:rPr>
              <a:t>Thank You!</a:t>
            </a:r>
          </a:p>
        </p:txBody>
      </p:sp>
      <p:sp>
        <p:nvSpPr>
          <p:cNvPr id="7" name="Rectangle 6"/>
          <p:cNvSpPr/>
          <p:nvPr/>
        </p:nvSpPr>
        <p:spPr>
          <a:xfrm>
            <a:off x="5248275" y="4119562"/>
            <a:ext cx="9525" cy="381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38475" y="3719512"/>
            <a:ext cx="1828800" cy="288605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 dirty="0" err="1" smtClean="0">
                <a:solidFill>
                  <a:srgbClr val="1E293B"/>
                </a:solidFill>
                <a:latin typeface="Inter SemiBold"/>
              </a:rPr>
              <a:t>Harsh</a:t>
            </a:r>
            <a:r>
              <a:rPr lang="en-US" sz="1650" dirty="0" smtClean="0">
                <a:solidFill>
                  <a:srgbClr val="1E293B"/>
                </a:solidFill>
                <a:latin typeface="Inter SemiBold"/>
              </a:rPr>
              <a:t> Kumar</a:t>
            </a:r>
            <a:endParaRPr sz="1650" b="0" i="0" u="none" dirty="0">
              <a:solidFill>
                <a:srgbClr val="1E293B"/>
              </a:solidFill>
              <a:latin typeface="Inter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38475" y="4367212"/>
            <a:ext cx="1828800" cy="20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64748B"/>
                </a:solidFill>
                <a:latin typeface="Inter"/>
              </a:rPr>
              <a:t>Roll No: </a:t>
            </a:r>
            <a:r>
              <a:rPr sz="1050" b="0" i="0" u="none" dirty="0" smtClean="0">
                <a:solidFill>
                  <a:srgbClr val="64748B"/>
                </a:solidFill>
                <a:latin typeface="Inter"/>
              </a:rPr>
              <a:t>25SCS100300</a:t>
            </a:r>
            <a:r>
              <a:rPr lang="en-US" sz="1050" dirty="0" smtClean="0">
                <a:solidFill>
                  <a:srgbClr val="64748B"/>
                </a:solidFill>
                <a:latin typeface="Inter"/>
              </a:rPr>
              <a:t>2291</a:t>
            </a:r>
            <a:endParaRPr sz="1050" b="0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38800" y="3719512"/>
            <a:ext cx="3514725" cy="31432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293B"/>
                </a:solidFill>
                <a:latin typeface="Inter SemiBold"/>
              </a:rPr>
              <a:t>School of Computer Science &amp;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8800" y="4367212"/>
            <a:ext cx="3514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IILM University, Greater Noida, U.P.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75" y="3748087"/>
            <a:ext cx="20002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3748087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055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</TotalTime>
  <Words>551</Words>
  <Application>Microsoft Office PowerPoint</Application>
  <PresentationFormat>Custom</PresentationFormat>
  <Paragraphs>62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Certification &amp; Official Verification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deel</dc:creator>
  <cp:lastModifiedBy>deel</cp:lastModifiedBy>
  <cp:revision>18</cp:revision>
  <dcterms:created xsi:type="dcterms:W3CDTF">2026-08-28T04:38:52Z</dcterms:created>
  <dcterms:modified xsi:type="dcterms:W3CDTF">2026-08-29T09:45:13Z</dcterms:modified>
</cp:coreProperties>
</file>